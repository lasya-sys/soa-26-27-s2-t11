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7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969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2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42.png"/><Relationship Id="rId10" Type="http://schemas.openxmlformats.org/officeDocument/2006/relationships/image" Target="../media/image39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C1B36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114800" cy="4114800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4" name="Image 0" descr="/home/claude/svbas/icons/car_FFB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234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Vehicle Breakdown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Assistance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13232" y="2880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location-aware platform connecting stranded vehicle owners with the nearest qualified roadside service providers.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370332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6968" y="3904488"/>
            <a:ext cx="457200" cy="45720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10" name="Text 7"/>
          <p:cNvSpPr/>
          <p:nvPr/>
        </p:nvSpPr>
        <p:spPr>
          <a:xfrm>
            <a:off x="886968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05256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 J. Lasya Geethika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5256" y="47823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  2420030686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63040" y="392277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87952" y="370332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0" y="3904488"/>
            <a:ext cx="457200" cy="45720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07408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J. Sree Vardhini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407408" y="47823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 2420030677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65192" y="392277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90104" y="370332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91272" y="3904488"/>
            <a:ext cx="457200" cy="45720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22" name="Text 19"/>
          <p:cNvSpPr/>
          <p:nvPr/>
        </p:nvSpPr>
        <p:spPr>
          <a:xfrm>
            <a:off x="7891272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909560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P. Harshini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909560" y="47823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2420030323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467344" y="392277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909560" y="53949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FA2C6"/>
                </a:solidFill>
              </a:rPr>
              <a:t>Under the Guidance of
</a:t>
            </a:r>
            <a:r>
              <a:rPr lang="en-US" sz="1300" b="1" dirty="0">
                <a:solidFill>
                  <a:srgbClr val="FFFFFF"/>
                </a:solidFill>
              </a:rPr>
              <a:t>Dr.   </a:t>
            </a:r>
            <a:r>
              <a:rPr lang="en-US" sz="1300" b="1" dirty="0" err="1">
                <a:solidFill>
                  <a:srgbClr val="FFFFFF"/>
                </a:solidFill>
              </a:rPr>
              <a:t>Venkateshwari</a:t>
            </a:r>
            <a:r>
              <a:rPr lang="en-US" sz="1300" b="1">
                <a:solidFill>
                  <a:srgbClr val="FFFFFF"/>
                </a:solidFill>
              </a:rPr>
              <a:t>  , </a:t>
            </a:r>
            <a:r>
              <a:rPr lang="en-US" sz="1300" b="1" dirty="0">
                <a:solidFill>
                  <a:srgbClr val="FFFFFF"/>
                </a:solidFill>
              </a:rPr>
              <a:t>Professor
</a:t>
            </a:r>
            <a:endParaRPr lang="en-US" sz="10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B9C6E0"/>
                </a:solidFill>
              </a:rPr>
              <a:t>Department of Computer Science and Engineering  ·  KLH University, Bowrampet Campus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93392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Smart Vehicle Breakdown Assistance?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19656"/>
            <a:ext cx="274320" cy="27432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7099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breakdowns are sudden and unpredictable — often in unfamiliar or remote locations.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569464"/>
            <a:ext cx="274320" cy="274320"/>
          </a:xfrm>
          <a:prstGeom prst="ellipse">
            <a:avLst/>
          </a:prstGeom>
          <a:solidFill>
            <a:srgbClr val="14285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45973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calling and comparing nearby mechanics wastes precious time during a stressful moment.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319272"/>
            <a:ext cx="274320" cy="27432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20954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roadside help relies on scattered phone calls with no visibility into request status.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274320" cy="274320"/>
          </a:xfrm>
          <a:prstGeom prst="ellipse">
            <a:avLst/>
          </a:prstGeom>
          <a:solidFill>
            <a:srgbClr val="14285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95935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location-aware platform can match drivers to the right help, faster and reliably.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1737360"/>
            <a:ext cx="4663440" cy="4480560"/>
          </a:xfrm>
          <a:prstGeom prst="roundRect">
            <a:avLst>
              <a:gd name="adj" fmla="val 2041"/>
            </a:avLst>
          </a:prstGeom>
          <a:solidFill>
            <a:srgbClr val="142850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REQUEST-TO-RESOLUTION FLOW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239572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C1B36"/>
          </a:solidFill>
          <a:ln w="15875">
            <a:solidFill>
              <a:srgbClr val="1F6F78"/>
            </a:solidFill>
            <a:prstDash val="solid"/>
          </a:ln>
        </p:spPr>
      </p:sp>
      <p:pic>
        <p:nvPicPr>
          <p:cNvPr id="20" name="Image 0" descr="/home/claude/svbas/icons/alert_FFB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2" y="2528316"/>
            <a:ext cx="301752" cy="30175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001000" y="23957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Breakdown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552944" y="2962656"/>
            <a:ext cx="0" cy="201168"/>
          </a:xfrm>
          <a:prstGeom prst="line">
            <a:avLst/>
          </a:prstGeom>
          <a:noFill/>
          <a:ln w="19050">
            <a:solidFill>
              <a:srgbClr val="1F6F78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7269480" y="316382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C1B36"/>
          </a:solidFill>
          <a:ln w="15875">
            <a:solidFill>
              <a:srgbClr val="1F6F78"/>
            </a:solidFill>
            <a:prstDash val="solid"/>
          </a:ln>
        </p:spPr>
      </p:sp>
      <p:pic>
        <p:nvPicPr>
          <p:cNvPr id="24" name="Image 1" descr="/home/claude/svbas/icons/send_FFB6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212" y="3296412"/>
            <a:ext cx="301752" cy="30175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001000" y="31638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Assistance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7552944" y="3730752"/>
            <a:ext cx="0" cy="201168"/>
          </a:xfrm>
          <a:prstGeom prst="line">
            <a:avLst/>
          </a:prstGeom>
          <a:noFill/>
          <a:ln w="19050">
            <a:solidFill>
              <a:srgbClr val="1F6F78"/>
            </a:solidFill>
            <a:prstDash val="dash"/>
          </a:ln>
        </p:spPr>
      </p:sp>
      <p:sp>
        <p:nvSpPr>
          <p:cNvPr id="27" name="Shape 23"/>
          <p:cNvSpPr/>
          <p:nvPr/>
        </p:nvSpPr>
        <p:spPr>
          <a:xfrm>
            <a:off x="7269480" y="39319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C1B36"/>
          </a:solidFill>
          <a:ln w="15875">
            <a:solidFill>
              <a:srgbClr val="1F6F78"/>
            </a:solidFill>
            <a:prstDash val="solid"/>
          </a:ln>
        </p:spPr>
      </p:sp>
      <p:pic>
        <p:nvPicPr>
          <p:cNvPr id="28" name="Image 2" descr="/home/claude/svbas/icons/location_FFB6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4064508"/>
            <a:ext cx="301752" cy="30175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001000" y="39319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Nearby Provider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7552944" y="4498848"/>
            <a:ext cx="0" cy="201168"/>
          </a:xfrm>
          <a:prstGeom prst="line">
            <a:avLst/>
          </a:prstGeom>
          <a:noFill/>
          <a:ln w="19050">
            <a:solidFill>
              <a:srgbClr val="1F6F78"/>
            </a:solidFill>
            <a:prstDash val="dash"/>
          </a:ln>
        </p:spPr>
      </p:sp>
      <p:sp>
        <p:nvSpPr>
          <p:cNvPr id="31" name="Shape 26"/>
          <p:cNvSpPr/>
          <p:nvPr/>
        </p:nvSpPr>
        <p:spPr>
          <a:xfrm>
            <a:off x="7269480" y="470001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C1B36"/>
          </a:solidFill>
          <a:ln w="15875">
            <a:solidFill>
              <a:srgbClr val="1F6F78"/>
            </a:solidFill>
            <a:prstDash val="solid"/>
          </a:ln>
        </p:spPr>
      </p:sp>
      <p:pic>
        <p:nvPicPr>
          <p:cNvPr id="32" name="Image 3" descr="/home/claude/svbas/icons/mechanic_FFB6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1212" y="4832604"/>
            <a:ext cx="301752" cy="30175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001000" y="47000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Provided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7552944" y="5266944"/>
            <a:ext cx="0" cy="201168"/>
          </a:xfrm>
          <a:prstGeom prst="line">
            <a:avLst/>
          </a:prstGeom>
          <a:noFill/>
          <a:ln w="19050">
            <a:solidFill>
              <a:srgbClr val="1F6F78"/>
            </a:solidFill>
            <a:prstDash val="dash"/>
          </a:ln>
        </p:spPr>
      </p:sp>
      <p:sp>
        <p:nvSpPr>
          <p:cNvPr id="35" name="Shape 29"/>
          <p:cNvSpPr/>
          <p:nvPr/>
        </p:nvSpPr>
        <p:spPr>
          <a:xfrm>
            <a:off x="7269480" y="546811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C1B36"/>
          </a:solidFill>
          <a:ln w="15875">
            <a:solidFill>
              <a:srgbClr val="1F6F78"/>
            </a:solidFill>
            <a:prstDash val="solid"/>
          </a:ln>
        </p:spPr>
      </p:sp>
      <p:pic>
        <p:nvPicPr>
          <p:cNvPr id="36" name="Image 4" descr="/home/claude/svbas/icons/check_FFB6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1212" y="5600700"/>
            <a:ext cx="301752" cy="30175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01000" y="54681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&amp; Feedback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 of Project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428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42850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93592" y="23957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2784" y="182880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42850"/>
          </a:solidFill>
          <a:ln/>
        </p:spPr>
      </p:sp>
      <p:sp>
        <p:nvSpPr>
          <p:cNvPr id="12" name="Text 10"/>
          <p:cNvSpPr/>
          <p:nvPr/>
        </p:nvSpPr>
        <p:spPr>
          <a:xfrm>
            <a:off x="6455664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55664" y="23957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34856" y="182880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42850"/>
          </a:solidFill>
          <a:ln/>
        </p:spPr>
      </p:sp>
      <p:sp>
        <p:nvSpPr>
          <p:cNvPr id="15" name="Text 13"/>
          <p:cNvSpPr/>
          <p:nvPr/>
        </p:nvSpPr>
        <p:spPr>
          <a:xfrm>
            <a:off x="9317736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317736" y="23957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F6F7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3858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10712" y="329184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F6F78"/>
          </a:solidFill>
          <a:ln/>
        </p:spPr>
      </p:sp>
      <p:sp>
        <p:nvSpPr>
          <p:cNvPr id="21" name="Text 19"/>
          <p:cNvSpPr/>
          <p:nvPr/>
        </p:nvSpPr>
        <p:spPr>
          <a:xfrm>
            <a:off x="3593592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593592" y="3858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72784" y="329184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F6F78"/>
          </a:solidFill>
          <a:ln/>
        </p:spPr>
      </p:sp>
      <p:sp>
        <p:nvSpPr>
          <p:cNvPr id="24" name="Text 22"/>
          <p:cNvSpPr/>
          <p:nvPr/>
        </p:nvSpPr>
        <p:spPr>
          <a:xfrm>
            <a:off x="6455664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55664" y="3858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Gap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34856" y="329184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F6F78"/>
          </a:solidFill>
          <a:ln/>
        </p:spPr>
      </p:sp>
      <p:sp>
        <p:nvSpPr>
          <p:cNvPr id="27" name="Text 25"/>
          <p:cNvSpPr/>
          <p:nvPr/>
        </p:nvSpPr>
        <p:spPr>
          <a:xfrm>
            <a:off x="9317736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17736" y="3858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Novelty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0C1B36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1520" y="5321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410712" y="47548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0C1B36"/>
          </a:solidFill>
          <a:ln/>
        </p:spPr>
      </p:sp>
      <p:sp>
        <p:nvSpPr>
          <p:cNvPr id="33" name="Text 31"/>
          <p:cNvSpPr/>
          <p:nvPr/>
        </p:nvSpPr>
        <p:spPr>
          <a:xfrm>
            <a:off x="3593592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593592" y="5321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Plan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72784" y="47548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0C1B36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455664" y="5321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134856" y="47548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0C1B36"/>
          </a:solidFill>
          <a:ln/>
        </p:spPr>
      </p:sp>
      <p:sp>
        <p:nvSpPr>
          <p:cNvPr id="39" name="Text 37"/>
          <p:cNvSpPr/>
          <p:nvPr/>
        </p:nvSpPr>
        <p:spPr>
          <a:xfrm>
            <a:off x="9317736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317736" y="5321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93392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Roadside Assistance Problem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7" name="Image 0" descr="/home/claude/svbas/icons/ale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6032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Causes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86207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tyres, battery failure, engine trouble, and fuel exhaustion strike without warning.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69664" y="1691640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98264" y="1920240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12" name="Image 1" descr="/home/claude/svbas/icons/compas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708" y="204368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98264" y="256032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Difficulty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398264" y="286207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Stranded drivers often don’t know the area or a trustworthy nearby mechanic.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790688" y="1691640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19288" y="1920240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17" name="Image 2" descr="/home/claude/svbas/icons/pho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732" y="204368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19288" y="256032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Gaps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019288" y="286207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Phone-based help is slow, unstructured, and gives no visibility into who is coming.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648456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3877056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22" name="Image 3" descr="/home/claude/svbas/icons/locatio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" y="400050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51713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Matters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7240" y="481888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GPS location is essential for a provider to reach the driver quickly.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169664" y="3648456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398264" y="3877056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27" name="Image 4" descr="/home/claude/svbas/icons/sen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708" y="4000500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398264" y="451713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Communication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398264" y="481888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in communicating the problem type extend waiting time on the road.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790688" y="3648456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019288" y="3877056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32" name="Image 5" descr="/home/claude/svbas/icons/databas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2732" y="4000500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019288" y="451713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Records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019288" y="481888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system to manage requests improves accountability and response.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33472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Prior Research Tells Us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600200" cy="384048"/>
          </a:xfrm>
          <a:prstGeom prst="rect">
            <a:avLst/>
          </a:prstGeom>
          <a:solidFill>
            <a:srgbClr val="142850"/>
          </a:solidFill>
          <a:ln w="9525">
            <a:solidFill>
              <a:srgbClr val="F7F9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1732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417320"/>
            <a:ext cx="640080" cy="384048"/>
          </a:xfrm>
          <a:prstGeom prst="rect">
            <a:avLst/>
          </a:prstGeom>
          <a:solidFill>
            <a:srgbClr val="142850"/>
          </a:solidFill>
          <a:ln w="9525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1992" y="14173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417320"/>
            <a:ext cx="2606040" cy="384048"/>
          </a:xfrm>
          <a:prstGeom prst="rect">
            <a:avLst/>
          </a:prstGeom>
          <a:solidFill>
            <a:srgbClr val="142850"/>
          </a:solidFill>
          <a:ln w="9525">
            <a:solidFill>
              <a:srgbClr val="F7F9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072" y="1417320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417320"/>
            <a:ext cx="2514600" cy="384048"/>
          </a:xfrm>
          <a:prstGeom prst="rect">
            <a:avLst/>
          </a:prstGeom>
          <a:solidFill>
            <a:srgbClr val="142850"/>
          </a:solidFill>
          <a:ln w="9525">
            <a:solidFill>
              <a:srgbClr val="F7F9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8112" y="141732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09560" y="1417320"/>
            <a:ext cx="3685032" cy="384048"/>
          </a:xfrm>
          <a:prstGeom prst="rect">
            <a:avLst/>
          </a:prstGeom>
          <a:solidFill>
            <a:srgbClr val="142850"/>
          </a:solidFill>
          <a:ln w="9525">
            <a:solidFill>
              <a:srgbClr val="F7F9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82712" y="1417320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1801368"/>
            <a:ext cx="160020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1801368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Almomani, Alkhalil,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&amp; Jodeh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48840" y="1801368"/>
            <a:ext cx="64008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21992" y="1801368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88920" y="1801368"/>
            <a:ext cx="260604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62072" y="1801368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GPS Vehicle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Management System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94960" y="1801368"/>
            <a:ext cx="251460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1801368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app using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for live tracking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909560" y="1801368"/>
            <a:ext cx="3685032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1801368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access to vehicle location; useful base for fleet and safety use-cases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2276856"/>
            <a:ext cx="1600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2276856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Iswarya, Devika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Ranjith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48840" y="2276856"/>
            <a:ext cx="6400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21992" y="2276856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88920" y="2276856"/>
            <a:ext cx="26060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62072" y="2276856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Assistance System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GPS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94960" y="2276856"/>
            <a:ext cx="2514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2276856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querying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services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909560" y="2276856"/>
            <a:ext cx="36850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82712" y="2276856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fuel, hospital, tow and tyre-service info from the user’s live location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2752344"/>
            <a:ext cx="160020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2752344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SLIIT Researchers,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ICAC 2021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148840" y="2752344"/>
            <a:ext cx="64008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21992" y="275234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88920" y="2752344"/>
            <a:ext cx="260604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62072" y="2752344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Based Solution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Vehicle Assistance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94960" y="2752344"/>
            <a:ext cx="251460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68112" y="2752344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sentiment-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insurance reviews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909560" y="2752344"/>
            <a:ext cx="3685032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82712" y="2752344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breakdown help with maintenance prediction &amp; insurance comparison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3227832"/>
            <a:ext cx="1600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3227832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On-Road Vehicle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Review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148840" y="3227832"/>
            <a:ext cx="6400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21992" y="322783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88920" y="3227832"/>
            <a:ext cx="26060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62072" y="3227832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Paper on On-Road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Breakdown Assistance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94960" y="3227832"/>
            <a:ext cx="2514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68112" y="3227832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Android/GPS/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breakdown apps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909560" y="3227832"/>
            <a:ext cx="36850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82712" y="3227832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provider recommendation improves urban &amp; rural response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48640" y="3703320"/>
            <a:ext cx="160020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" y="3703320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IRJMETS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148840" y="3703320"/>
            <a:ext cx="64008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21992" y="3703320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788920" y="3703320"/>
            <a:ext cx="260604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62072" y="3703320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On-Road Vehicle Breakdown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Finder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394960" y="3703320"/>
            <a:ext cx="251460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68112" y="3703320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GetX + Firebase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architecture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909560" y="3703320"/>
            <a:ext cx="3685032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82712" y="3703320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SOS, towing &amp; mechanic dispatch reduce coordination delay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48640" y="4288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IEEE Xplore, IJARIIT, IRJMETS. Table condensed for readability — full IEEE-style references on the final slide.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Roadside Help Works Today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760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04288"/>
            <a:ext cx="310896" cy="310896"/>
          </a:xfrm>
          <a:prstGeom prst="ellipse">
            <a:avLst/>
          </a:prstGeom>
          <a:solidFill>
            <a:srgbClr val="14285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calls known contacts or searches online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760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72968"/>
            <a:ext cx="310896" cy="310896"/>
          </a:xfrm>
          <a:prstGeom prst="ellipse">
            <a:avLst/>
          </a:prstGeom>
          <a:solidFill>
            <a:srgbClr val="14285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97180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compares mechanics by phone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760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41648"/>
            <a:ext cx="310896" cy="310896"/>
          </a:xfrm>
          <a:prstGeom prst="ellipse">
            <a:avLst/>
          </a:prstGeom>
          <a:solidFill>
            <a:srgbClr val="14285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84048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without knowing arrival time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5760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910328"/>
            <a:ext cx="310896" cy="310896"/>
          </a:xfrm>
          <a:prstGeom prst="ellipse">
            <a:avLst/>
          </a:prstGeom>
          <a:solidFill>
            <a:srgbClr val="14285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70916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record of the request or outcome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169164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14285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9202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DISADVANTAGES</a:t>
            </a:r>
            <a:endParaRPr lang="en-US" sz="1200" dirty="0"/>
          </a:p>
        </p:txBody>
      </p:sp>
      <p:pic>
        <p:nvPicPr>
          <p:cNvPr id="24" name="Image 0" descr="/home/claude/svbas/icons/clock_FFB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68880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15200" y="242316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manual coordination between users and mechanics</a:t>
            </a:r>
            <a:endParaRPr lang="en-US" sz="1250" dirty="0"/>
          </a:p>
        </p:txBody>
      </p:sp>
      <p:pic>
        <p:nvPicPr>
          <p:cNvPr id="26" name="Image 1" descr="/home/claude/svbas/icons/x_FFB6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246120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315200" y="32004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tracking of requests or provider status</a:t>
            </a:r>
            <a:endParaRPr lang="en-US" sz="1250" dirty="0"/>
          </a:p>
        </p:txBody>
      </p:sp>
      <p:pic>
        <p:nvPicPr>
          <p:cNvPr id="28" name="Image 2" descr="/home/claude/svbas/icons/alert_FFB6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023360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315200" y="39776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real-time communication once help is requested</a:t>
            </a:r>
            <a:endParaRPr lang="en-US" sz="1250" dirty="0"/>
          </a:p>
        </p:txBody>
      </p:sp>
      <p:pic>
        <p:nvPicPr>
          <p:cNvPr id="30" name="Image 3" descr="/home/claude/svbas/icons/compass_FFB6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800600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15200" y="475488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the most suitable nearby provider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931920"/>
            <a:ext cx="4572000" cy="4572000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3" name="Image 0" descr="/home/claude/svbas/icons/target_FFB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vehicle owners quickly and efficiently obtain suitable roadside assistance during unexpected breakdowns using location-based matching, centralized request management, and real-time status tracking?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41248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this closes the gap between an unpredictable roadside emergency and a fast, trustworthy response.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208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6F78"/>
          </a:solidFill>
          <a:ln/>
        </p:spPr>
      </p:sp>
      <p:pic>
        <p:nvPicPr>
          <p:cNvPr id="7" name="Image 0" descr="/home/claude/svbas/icons/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3969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28800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IN" sz="1200" dirty="0"/>
              <a:t>To innovate a centralized platform for efficient vehicle breakdown assistance.</a:t>
            </a:r>
          </a:p>
          <a:p>
            <a:pPr marL="0" indent="0">
              <a:lnSpc>
                <a:spcPct val="102000"/>
              </a:lnSpc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93792" y="1810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80760" y="1737360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45352" y="20208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42850"/>
          </a:solidFill>
          <a:ln/>
        </p:spPr>
      </p:sp>
      <p:pic>
        <p:nvPicPr>
          <p:cNvPr id="12" name="Image 1" descr="/home/claude/svbas/icons/sen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13969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0" y="1828800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IN" sz="1200" dirty="0"/>
              <a:t>To develop a digital system for reporting vehicle breakdowns with type, description, and images.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725912" y="1810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2944368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" y="3227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6F78"/>
          </a:solidFill>
          <a:ln/>
        </p:spPr>
      </p:sp>
      <p:pic>
        <p:nvPicPr>
          <p:cNvPr id="17" name="Image 2" descr="/home/claude/svbas/icons/locatio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334670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035808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IN" sz="1200" dirty="0"/>
              <a:t>To enable accurate real-time GPS location tracking during breakdown requests.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193792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879592" y="2925875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45352" y="3227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42850"/>
          </a:solidFill>
          <a:ln/>
        </p:spPr>
      </p:sp>
      <p:pic>
        <p:nvPicPr>
          <p:cNvPr id="22" name="Image 3" descr="/home/claude/svbas/icons/compas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3346704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3035808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IN" sz="1200" dirty="0"/>
              <a:t>To automatically identify and match users with suitable nearby service providers.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725912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4151376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13232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6F78"/>
          </a:solidFill>
          <a:ln/>
        </p:spPr>
      </p:sp>
      <p:pic>
        <p:nvPicPr>
          <p:cNvPr id="27" name="Image 4" descr="/home/claude/svbas/icons/clo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455371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4242816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IN" sz="1200" dirty="0"/>
              <a:t>To reduce vehicle assistance response time compared to traditional manual methods.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193792" y="4224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6080760" y="4151376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45352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42850"/>
          </a:solidFill>
          <a:ln/>
        </p:spPr>
      </p:sp>
      <p:pic>
        <p:nvPicPr>
          <p:cNvPr id="32" name="Image 5" descr="/home/claude/svbas/icons/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4553712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58000" y="4242816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IN" sz="1200" dirty="0"/>
              <a:t>To enable service providers to accept, navigate, and manage assigned assistance requests.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0725912" y="4224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548640" y="5358384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13232" y="56418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6F78"/>
          </a:solidFill>
          <a:ln/>
        </p:spPr>
      </p:sp>
      <p:pic>
        <p:nvPicPr>
          <p:cNvPr id="37" name="Image 6" descr="/home/claude/svbas/icons/refresh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" y="5760720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325880" y="5449824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IN" sz="1200" dirty="0"/>
              <a:t>To provide real-time tracking of assistance status from Pending to Accepted, In Progress, and Completed.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5193792" y="5431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40" name="Shape 31"/>
          <p:cNvSpPr/>
          <p:nvPr/>
        </p:nvSpPr>
        <p:spPr>
          <a:xfrm>
            <a:off x="6080760" y="5358384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245352" y="56418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42850"/>
          </a:solidFill>
          <a:ln/>
        </p:spPr>
      </p:sp>
      <p:pic>
        <p:nvPicPr>
          <p:cNvPr id="42" name="Image 7" descr="/home/claude/svbas/icons/users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4224" y="5760720"/>
            <a:ext cx="219456" cy="21945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858000" y="5449824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IN" sz="1200" dirty="0"/>
              <a:t>To improve coordination and communication between vehicle users and service providers.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10725912" y="5431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45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Proposed System — Core Modules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675120" cy="603504"/>
          </a:xfrm>
          <a:prstGeom prst="roundRect">
            <a:avLst>
              <a:gd name="adj" fmla="val 12121"/>
            </a:avLst>
          </a:prstGeom>
          <a:solidFill>
            <a:srgbClr val="142850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700784"/>
            <a:ext cx="402336" cy="402336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7" name="Image 0" descr="/home/claude/svbas/icons/user_FFB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10512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6550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61872" y="19202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vehicle profile management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6675120" cy="603504"/>
          </a:xfrm>
          <a:prstGeom prst="roundRect">
            <a:avLst>
              <a:gd name="adj" fmla="val 12121"/>
            </a:avLst>
          </a:prstGeom>
          <a:solidFill>
            <a:srgbClr val="1F6F78"/>
          </a:solidFill>
          <a:ln/>
        </p:spPr>
      </p:sp>
      <p:sp>
        <p:nvSpPr>
          <p:cNvPr id="11" name="Shape 8"/>
          <p:cNvSpPr/>
          <p:nvPr/>
        </p:nvSpPr>
        <p:spPr>
          <a:xfrm>
            <a:off x="694944" y="2432304"/>
            <a:ext cx="402336" cy="402336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12" name="Image 1" descr="/home/claude/svbas/icons/send_FFB6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54203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61872" y="23865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Request Module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61872" y="265176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type, location capture, description &amp; images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063240"/>
            <a:ext cx="6675120" cy="603504"/>
          </a:xfrm>
          <a:prstGeom prst="roundRect">
            <a:avLst>
              <a:gd name="adj" fmla="val 12121"/>
            </a:avLst>
          </a:prstGeom>
          <a:solidFill>
            <a:srgbClr val="142850"/>
          </a:solidFill>
          <a:ln/>
        </p:spPr>
      </p:sp>
      <p:sp>
        <p:nvSpPr>
          <p:cNvPr id="16" name="Shape 12"/>
          <p:cNvSpPr/>
          <p:nvPr/>
        </p:nvSpPr>
        <p:spPr>
          <a:xfrm>
            <a:off x="694944" y="3163824"/>
            <a:ext cx="402336" cy="402336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17" name="Image 2" descr="/home/claude/svbas/icons/location_FFB6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273552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311810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Provider Matching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61872" y="33832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discovery of the nearest suitable providers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794760"/>
            <a:ext cx="6675120" cy="603504"/>
          </a:xfrm>
          <a:prstGeom prst="roundRect">
            <a:avLst>
              <a:gd name="adj" fmla="val 12121"/>
            </a:avLst>
          </a:prstGeom>
          <a:solidFill>
            <a:srgbClr val="1F6F78"/>
          </a:solidFill>
          <a:ln/>
        </p:spPr>
      </p:sp>
      <p:sp>
        <p:nvSpPr>
          <p:cNvPr id="21" name="Shape 16"/>
          <p:cNvSpPr/>
          <p:nvPr/>
        </p:nvSpPr>
        <p:spPr>
          <a:xfrm>
            <a:off x="694944" y="3895344"/>
            <a:ext cx="402336" cy="402336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22" name="Image 3" descr="/home/claude/svbas/icons/mechanic_FFB6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005072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61872" y="38496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 Module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261872" y="41148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Accept/reject, navigate, deliver roadside assistance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4526280"/>
            <a:ext cx="6675120" cy="603504"/>
          </a:xfrm>
          <a:prstGeom prst="roundRect">
            <a:avLst>
              <a:gd name="adj" fmla="val 12121"/>
            </a:avLst>
          </a:prstGeom>
          <a:solidFill>
            <a:srgbClr val="142850"/>
          </a:solidFill>
          <a:ln/>
        </p:spPr>
      </p:sp>
      <p:sp>
        <p:nvSpPr>
          <p:cNvPr id="26" name="Shape 20"/>
          <p:cNvSpPr/>
          <p:nvPr/>
        </p:nvSpPr>
        <p:spPr>
          <a:xfrm>
            <a:off x="694944" y="4626864"/>
            <a:ext cx="402336" cy="402336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27" name="Image 4" descr="/home/claude/svbas/icons/bell_FFB6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736592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61872" y="45811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&amp; Notifications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261872" y="48463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Accepted → In Progress → Completed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48640" y="5257800"/>
            <a:ext cx="6675120" cy="603504"/>
          </a:xfrm>
          <a:prstGeom prst="roundRect">
            <a:avLst>
              <a:gd name="adj" fmla="val 12121"/>
            </a:avLst>
          </a:prstGeom>
          <a:solidFill>
            <a:srgbClr val="1F6F78"/>
          </a:solidFill>
          <a:ln/>
        </p:spPr>
      </p:sp>
      <p:sp>
        <p:nvSpPr>
          <p:cNvPr id="31" name="Shape 24"/>
          <p:cNvSpPr/>
          <p:nvPr/>
        </p:nvSpPr>
        <p:spPr>
          <a:xfrm>
            <a:off x="694944" y="5358384"/>
            <a:ext cx="402336" cy="402336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32" name="Image 5" descr="/home/claude/svbas/icons/star_FFB6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5468112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61872" y="53126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Completion &amp; Feedback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1261872" y="55778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feedback recorded after each job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7635240" y="1600200"/>
            <a:ext cx="3977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909560" y="1856232"/>
            <a:ext cx="502920" cy="502920"/>
          </a:xfrm>
          <a:prstGeom prst="ellipse">
            <a:avLst/>
          </a:prstGeom>
          <a:solidFill>
            <a:srgbClr val="142850"/>
          </a:solidFill>
          <a:ln/>
        </p:spPr>
      </p:sp>
      <p:pic>
        <p:nvPicPr>
          <p:cNvPr id="37" name="Image 6" descr="/home/claude/svbas/icons/shield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7576" y="1984248"/>
            <a:ext cx="246888" cy="24688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549640" y="188366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7909560" y="24688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providers, requests, categories, reports &amp; analytics, and system settings.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7635240" y="3886200"/>
            <a:ext cx="3977640" cy="1965960"/>
          </a:xfrm>
          <a:prstGeom prst="roundRect">
            <a:avLst>
              <a:gd name="adj" fmla="val 4651"/>
            </a:avLst>
          </a:prstGeom>
          <a:solidFill>
            <a:srgbClr val="142850"/>
          </a:solidFill>
          <a:ln/>
        </p:spPr>
      </p:sp>
      <p:sp>
        <p:nvSpPr>
          <p:cNvPr id="41" name="Shape 32"/>
          <p:cNvSpPr/>
          <p:nvPr/>
        </p:nvSpPr>
        <p:spPr>
          <a:xfrm>
            <a:off x="7909560" y="4142232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42" name="Image 7" descr="/home/claude/svbas/icons/database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7576" y="4270248"/>
            <a:ext cx="246888" cy="2468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549640" y="416966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</a:t>
            </a:r>
            <a:endParaRPr lang="en-US" sz="1400" dirty="0"/>
          </a:p>
        </p:txBody>
      </p:sp>
      <p:sp>
        <p:nvSpPr>
          <p:cNvPr id="44" name="Text 34"/>
          <p:cNvSpPr/>
          <p:nvPr/>
        </p:nvSpPr>
        <p:spPr>
          <a:xfrm>
            <a:off x="7909560" y="47548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modules read and write through one shared database, keeping every request, profile, and status update consistent.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93392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F6F7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361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svbas/icons/user_1F6F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27632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179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Vehicle Owner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1965960"/>
            <a:ext cx="3136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Details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Type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Description, Image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51960" y="13716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F6F78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5361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svbas/icons/mechanic_1F6F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62763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15179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453128" y="1965960"/>
            <a:ext cx="3136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Request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Details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User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955280" y="13716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42850"/>
          </a:solidFill>
          <a:ln/>
        </p:spPr>
      </p:sp>
      <p:sp>
        <p:nvSpPr>
          <p:cNvPr id="16" name="Shape 12"/>
          <p:cNvSpPr/>
          <p:nvPr/>
        </p:nvSpPr>
        <p:spPr>
          <a:xfrm>
            <a:off x="8138160" y="15361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svbas/icons/shield_1428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627632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15179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156448" y="1965960"/>
            <a:ext cx="3136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Providers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Requests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308860" y="3200400"/>
            <a:ext cx="0" cy="201168"/>
          </a:xfrm>
          <a:prstGeom prst="line">
            <a:avLst/>
          </a:prstGeom>
          <a:noFill/>
          <a:ln w="19050">
            <a:solidFill>
              <a:srgbClr val="7A8699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012180" y="3200400"/>
            <a:ext cx="0" cy="201168"/>
          </a:xfrm>
          <a:prstGeom prst="line">
            <a:avLst/>
          </a:prstGeom>
          <a:noFill/>
          <a:ln w="19050">
            <a:solidFill>
              <a:srgbClr val="7A8699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715500" y="3200400"/>
            <a:ext cx="0" cy="201168"/>
          </a:xfrm>
          <a:prstGeom prst="line">
            <a:avLst/>
          </a:prstGeom>
          <a:noFill/>
          <a:ln w="19050">
            <a:solidFill>
              <a:srgbClr val="7A8699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48640" y="3474720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0C1B36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7240" y="35478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REQUEST MANAGEMENT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77240" y="3858768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· Store · Identify Problem Type · Capture Location · Find Nearby Providers · Notify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012180" y="4343400"/>
            <a:ext cx="0" cy="201168"/>
          </a:xfrm>
          <a:prstGeom prst="line">
            <a:avLst/>
          </a:prstGeom>
          <a:noFill/>
          <a:ln w="19050">
            <a:solidFill>
              <a:srgbClr val="7A8699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548640" y="4617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F6F78"/>
          </a:solidFill>
          <a:ln/>
        </p:spPr>
      </p:sp>
      <p:pic>
        <p:nvPicPr>
          <p:cNvPr id="28" name="Image 3" descr="/home/claude/svbas/icons/database_FFB6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782312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15568" y="47457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31520" y="5120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store connecting user, provider, request and admin data.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251960" y="4617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42850"/>
          </a:solidFill>
          <a:ln/>
        </p:spPr>
      </p:sp>
      <p:pic>
        <p:nvPicPr>
          <p:cNvPr id="32" name="Image 4" descr="/home/claude/svbas/icons/navigation_FFB6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4782312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818888" y="47457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Mapping Service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4434840" y="5120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for user location, nearby-provider search, and navigation.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7955280" y="4617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F6F78"/>
          </a:solidFill>
          <a:ln/>
        </p:spPr>
      </p:sp>
      <p:pic>
        <p:nvPicPr>
          <p:cNvPr id="36" name="Image 5" descr="/home/claude/svbas/icons/bell_FFB6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478231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522208" y="47457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Tracking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8138160" y="5120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→ Assigned → In Progress → Completed → Feedback.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65376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Existing Gaps to Our Improvements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94760" cy="457200"/>
          </a:xfrm>
          <a:prstGeom prst="rect">
            <a:avLst/>
          </a:prstGeom>
          <a:solidFill>
            <a:srgbClr val="142850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457200"/>
          </a:xfrm>
          <a:prstGeom prst="rect">
            <a:avLst/>
          </a:prstGeom>
          <a:solidFill>
            <a:srgbClr val="FFB627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91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1691640"/>
            <a:ext cx="3703320" cy="457200"/>
          </a:xfrm>
          <a:prstGeom prst="rect">
            <a:avLst/>
          </a:prstGeom>
          <a:solidFill>
            <a:srgbClr val="142850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1691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Improvement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379476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4884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calling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2148840"/>
            <a:ext cx="352044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14884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coordination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0" y="2148840"/>
            <a:ext cx="370332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14884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request system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752344"/>
            <a:ext cx="3794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752344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mechanic search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2752344"/>
            <a:ext cx="3520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75234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matching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63840" y="2752344"/>
            <a:ext cx="3703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275234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provider matching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355848"/>
            <a:ext cx="379476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355848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tracking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3355848"/>
            <a:ext cx="352044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355848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status monitoring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63840" y="3355848"/>
            <a:ext cx="370332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3355848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tracking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959352"/>
            <a:ext cx="3794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959352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communication channels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43400" y="3959352"/>
            <a:ext cx="3520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3959352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coordination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863840" y="3959352"/>
            <a:ext cx="3703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395935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platform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562856"/>
            <a:ext cx="379476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562856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location integration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343400" y="4562856"/>
            <a:ext cx="352044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4562856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find the user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863840" y="4562856"/>
            <a:ext cx="370332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01000" y="456285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location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5166360"/>
            <a:ext cx="3794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516636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343400" y="5166360"/>
            <a:ext cx="3520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516636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management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863840" y="5166360"/>
            <a:ext cx="3703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01000" y="516636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Database-based records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Creativity &amp; Novelty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7" name="Image 0" descr="/home/claude/svbas/icons/location_1428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92808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28600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Matching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258775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location identifies nearby suitable service providers.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059936" y="1600200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42816" y="1783080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12" name="Image 1" descr="/home/claude/svbas/icons/wrench_1428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89280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42816" y="228600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Breakdown-Type Aware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242816" y="258775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is matched to the reported problem type.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571232" y="1600200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54112" y="1783080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17" name="Image 2" descr="/home/claude/svbas/icons/layers_1428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892808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54112" y="228600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Platform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754112" y="258775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providers &amp; admins interact through one system.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8640" y="3218688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3401568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22" name="Image 3" descr="/home/claude/svbas/icons/refresh_1428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511296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390448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31520" y="420624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visible: Pending, Accepted, In Progress, Completed.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059936" y="3218688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242816" y="3401568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27" name="Image 4" descr="/home/claude/svbas/icons/users_1428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2544" y="3511296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242816" y="390448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Coordination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242816" y="420624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dispatch replaces calling multiple mechanics.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571232" y="3218688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754112" y="3401568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32" name="Image 5" descr="/home/claude/svbas/icons/star_1428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3511296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754112" y="390448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Records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754112" y="420624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services are rated and logged for quality.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48640" y="4837176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31520" y="5020056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37" name="Image 6" descr="/home/claude/svbas/icons/trending_1428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5129784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31520" y="552297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731520" y="582472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for IoT diagnostics &amp; AI fault prediction.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4059936" y="4837176"/>
            <a:ext cx="6821424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41" name="Image 7" descr="/home/claude/svbas/icons/alert_FFB62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2816" y="5020056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654296" y="503834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4242816" y="5458968"/>
            <a:ext cx="6455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IoT diagnostics, and predictive maintenance are planned future enhancements — not part of the current implementation.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65376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Study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F6F7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svbas/icons/settings_1F6F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1122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31089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platform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 + REST APIs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location services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88536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42850"/>
          </a:solidFill>
          <a:ln/>
        </p:spPr>
      </p:sp>
      <p:sp>
        <p:nvSpPr>
          <p:cNvPr id="11" name="Shape 8"/>
          <p:cNvSpPr/>
          <p:nvPr/>
        </p:nvSpPr>
        <p:spPr>
          <a:xfrm>
            <a:off x="4562856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svbas/icons/chart_1428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1122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2856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81144" y="31089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technologies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infrastructure cost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expensive licensing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commodity cloud hosting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28432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B627"/>
          </a:solidFill>
          <a:ln/>
        </p:spPr>
      </p:sp>
      <p:sp>
        <p:nvSpPr>
          <p:cNvPr id="16" name="Shape 12"/>
          <p:cNvSpPr/>
          <p:nvPr/>
        </p:nvSpPr>
        <p:spPr>
          <a:xfrm>
            <a:off x="8302752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svbas/icons/thumbsup_FFB6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211226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31089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 for users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request handling for providers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for monitoring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training required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633472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Delivers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42850"/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201168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svbas/icons/zap_1428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21671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7889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roadside assistance requests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73552" y="17373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F6F78"/>
          </a:solidFill>
          <a:ln/>
        </p:spPr>
      </p:sp>
      <p:sp>
        <p:nvSpPr>
          <p:cNvPr id="10" name="Shape 7"/>
          <p:cNvSpPr/>
          <p:nvPr/>
        </p:nvSpPr>
        <p:spPr>
          <a:xfrm>
            <a:off x="4242816" y="201168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svbas/icons/location_1428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21671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38144" y="27889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identification of nearby providers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998464" y="17373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42850"/>
          </a:solidFill>
          <a:ln/>
        </p:spPr>
      </p:sp>
      <p:sp>
        <p:nvSpPr>
          <p:cNvPr id="14" name="Shape 10"/>
          <p:cNvSpPr/>
          <p:nvPr/>
        </p:nvSpPr>
        <p:spPr>
          <a:xfrm>
            <a:off x="6967728" y="201168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svbas/icons/send_1428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216712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3056" y="27889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communication between all parties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723376" y="17373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F6F78"/>
          </a:solidFill>
          <a:ln/>
        </p:spPr>
      </p:sp>
      <p:sp>
        <p:nvSpPr>
          <p:cNvPr id="18" name="Shape 13"/>
          <p:cNvSpPr/>
          <p:nvPr/>
        </p:nvSpPr>
        <p:spPr>
          <a:xfrm>
            <a:off x="9692640" y="201168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/home/claude/svbas/icons/refresh_1428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8088" y="2167128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87968" y="27889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service status tracking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384048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F6F78"/>
          </a:solidFill>
          <a:ln/>
        </p:spPr>
      </p:sp>
      <p:sp>
        <p:nvSpPr>
          <p:cNvPr id="22" name="Shape 16"/>
          <p:cNvSpPr/>
          <p:nvPr/>
        </p:nvSpPr>
        <p:spPr>
          <a:xfrm>
            <a:off x="1517904" y="41148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/home/claude/svbas/icons/database_1428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3352" y="4270248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" y="4892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breakdown records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273552" y="384048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42850"/>
          </a:solidFill>
          <a:ln/>
        </p:spPr>
      </p:sp>
      <p:sp>
        <p:nvSpPr>
          <p:cNvPr id="26" name="Shape 19"/>
          <p:cNvSpPr/>
          <p:nvPr/>
        </p:nvSpPr>
        <p:spPr>
          <a:xfrm>
            <a:off x="4242816" y="41148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/home/claude/svbas/icons/star_1428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8264" y="4270248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38144" y="4892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overall user experience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5998464" y="384048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F6F78"/>
          </a:solidFill>
          <a:ln/>
        </p:spPr>
      </p:sp>
      <p:sp>
        <p:nvSpPr>
          <p:cNvPr id="30" name="Shape 22"/>
          <p:cNvSpPr/>
          <p:nvPr/>
        </p:nvSpPr>
        <p:spPr>
          <a:xfrm>
            <a:off x="6967728" y="41148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6" descr="/home/claude/svbas/icons/users_1428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3176" y="4270248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163056" y="4892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service-provider management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8723376" y="384048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42850"/>
          </a:solidFill>
          <a:ln/>
        </p:spPr>
      </p:sp>
      <p:sp>
        <p:nvSpPr>
          <p:cNvPr id="34" name="Shape 25"/>
          <p:cNvSpPr/>
          <p:nvPr/>
        </p:nvSpPr>
        <p:spPr>
          <a:xfrm>
            <a:off x="9692640" y="41148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7" descr="/home/claude/svbas/icons/chart_1428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8088" y="4270248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887968" y="4892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administrative monitoring &amp; reports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C1B3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pic>
        <p:nvPicPr>
          <p:cNvPr id="7" name="Image 0" descr="/home/claude/svbas/icons/flag_FFB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47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provides a centralized, location-aware platform for managing vehicle breakdown assistance, and improves coordination between vehicle owners and service providers through real-time, transparent request handling.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1645920"/>
            <a:ext cx="5577840" cy="4297680"/>
          </a:xfrm>
          <a:prstGeom prst="roundRect">
            <a:avLst>
              <a:gd name="adj" fmla="val 2128"/>
            </a:avLst>
          </a:prstGeom>
          <a:solidFill>
            <a:srgbClr val="1F6F78"/>
          </a:solidFill>
          <a:ln/>
        </p:spPr>
      </p:sp>
      <p:pic>
        <p:nvPicPr>
          <p:cNvPr id="11" name="Image 1" descr="/home/claude/svbas/icons/trend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9202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947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46520" y="248716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vehicle health monitoring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breakdown prediction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fault detection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 functionality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integration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provider tracking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/ service-provider integration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M. Almomani, N. Y. Alkhalil, E. M. Ahmad, and R. M. Jodeh, "Ubiquitous GPS vehicle tracking and management system," in Proc. IEEE Jordan Conf. on Applied Electrical Engineering and Computing Technologies (AEECT), Amman, Jordan, Dec. 2011, pp. 1–6.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500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3500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Iswarya, D. Devika, and E. Ranjith, "Road assistance system using GPS," Int. J. Advance Research, Ideas and Innovations in Technology (IJARIIT), vol. 6, no. 2, 2020.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0083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00837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"Mobile based solution for vehicle assistance," in Proc. 2021 3rd Int. Conf. on Advancements in Computing (ICAC), 2021, pp. 31–36, doi: 10.1109/ICAC54203.2021.9671196.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667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66674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paper on ‘On road vehicle breakdown assistance system,’" Int. J. Engineering Applied Sciences and Technology (IJEAST), vol. 4, no. 11, pp. 199–202, Mar. 2020.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3251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32511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"On-road vehicle breakdown assistance finder," Int. Research J. Modernization in Engineering, Technology and Science (IRJMETS), 2024.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983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4983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Usman, M. R. Asghar, I. S. Ansari, F. Granelli, and K. A. Qaraqe, "Technologies and solutions for location-based services in smart cities: Past, present, and future," IEEE Access, vol. 6, pp. 22240–22248, 2018, doi: 10.1109/ACCESS.2018.2826041.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6875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IEEE-style referencing. All entries correspond to real, verifiable publications used in the literature survey.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1697</Words>
  <Application>Microsoft Office PowerPoint</Application>
  <PresentationFormat>Widescreen</PresentationFormat>
  <Paragraphs>347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jayaramreddy janipally</cp:lastModifiedBy>
  <cp:revision>3</cp:revision>
  <dcterms:created xsi:type="dcterms:W3CDTF">2026-08-18T08:59:53Z</dcterms:created>
  <dcterms:modified xsi:type="dcterms:W3CDTF">2026-08-20T03:22:55Z</dcterms:modified>
</cp:coreProperties>
</file>